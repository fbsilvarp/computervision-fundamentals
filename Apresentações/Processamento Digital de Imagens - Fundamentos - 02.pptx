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94" r:id="rId3"/>
    <p:sldId id="274" r:id="rId4"/>
    <p:sldId id="295" r:id="rId5"/>
    <p:sldId id="297" r:id="rId6"/>
    <p:sldId id="299" r:id="rId7"/>
    <p:sldId id="300" r:id="rId8"/>
    <p:sldId id="298" r:id="rId9"/>
    <p:sldId id="296" r:id="rId10"/>
    <p:sldId id="275" r:id="rId11"/>
    <p:sldId id="277" r:id="rId12"/>
    <p:sldId id="278" r:id="rId13"/>
    <p:sldId id="279" r:id="rId14"/>
    <p:sldId id="280" r:id="rId15"/>
    <p:sldId id="282" r:id="rId16"/>
    <p:sldId id="281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76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4038" autoAdjust="0"/>
  </p:normalViewPr>
  <p:slideViewPr>
    <p:cSldViewPr snapToGrid="0">
      <p:cViewPr>
        <p:scale>
          <a:sx n="60" d="100"/>
          <a:sy n="60" d="100"/>
        </p:scale>
        <p:origin x="1056" y="6"/>
      </p:cViewPr>
      <p:guideLst>
        <p:guide orient="horz" pos="22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9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28E4261-611C-5140-AB98-9BE0B9BA99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F3CC02-C21C-2BCB-CC31-091D08DED6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8E50B-6B65-435A-913A-83CFD3C3E9D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CAC811D-6080-6EE1-F3A8-54DDCF1CBE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395DDC-793F-57EB-A77E-ADC366C2E7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8344B-73C7-4A54-A466-095467FE47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8911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BAD5B-988A-44D3-BB15-0AC26A954253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26297-C0C9-4EF2-AC01-E20FBFE2D0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330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146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181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044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721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126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982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855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771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42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608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04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4786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967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138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459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132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1477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980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2522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2671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7244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19852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6297-C0C9-4EF2-AC01-E20FBFE2D0E0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399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35369-6BDA-F591-8E37-CC8E4B9C6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2BC65A-FE23-C6CF-8D77-EF4E6BA1F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4B4AB5-F58B-8465-DD95-590F0DCF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C67C-FB35-452E-ABDA-10022B939710}" type="datetime1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7FB09-B592-822A-C519-1B23A0D5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C193C8-3437-F832-10BD-DBDC4AC8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027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5C648-BB65-B067-55E0-06397FB6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DE6036-32A0-75CA-931E-61C1758E0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130DE6-A2BC-F93B-6D8A-74320FD46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5A325-D725-42F0-A2B1-89A380CD3402}" type="datetime1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2187DD-B2F8-547A-5E61-50C6BA28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341C64-FBD4-2238-746D-15798CBB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67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77154-4AB1-E5FE-A8B6-17222919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8CFADB-F62B-3967-8812-53B2184DF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A2D3BC-1AAE-7710-9D8E-4F1F1D419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9358-A3CC-484F-81DB-B85A6FE23775}" type="datetime1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71844F-9EC4-5A54-AB72-F88472A2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C9E60-D1E0-EDF6-CDD7-C15C42C1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29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3D1E7-1D39-EF0F-80B6-A8736C2E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7D12E-C004-7A33-55CB-FEE50A82E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91F733-137A-E8E7-1522-0AD9A1617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C2E86B-DEBA-C2FC-A2B1-6F191767F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67FC-2621-479A-B0AC-7DB0DD3FA4C1}" type="datetime1">
              <a:rPr lang="pt-BR" smtClean="0"/>
              <a:t>21/04/2026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BD4FD6-1259-8AA1-2016-FEB9D40D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14836A-0993-0766-2948-926BF341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935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20832-0E1E-322C-9EFC-1FA4092B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8A82E4-596E-8AF0-8F9B-3B2B14961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A07020-629D-FEA9-CC43-FB9238EFB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849B7F-6B77-5DD4-3D1A-BEC6B64EC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31B179-0E50-DAE0-9403-59A6AB83E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A20573-E2F8-E3E7-B3F4-80F8A31D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AE46-C7AC-4AF9-8794-EA61F6DD9C12}" type="datetime1">
              <a:rPr lang="pt-BR" smtClean="0"/>
              <a:t>21/04/2026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61CA79-C7EC-6985-B8F6-8CAD5E2B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57C03C3-C88D-5A0D-49FB-AF16314C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09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73D0E-642B-505F-C55C-6FD2B90C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11D1F91-A003-135C-C530-2C48B7B7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95D-7594-4A18-8643-653ABCA1B952}" type="datetime1">
              <a:rPr lang="pt-BR" smtClean="0"/>
              <a:t>21/04/2026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1024ED-2E97-9DBD-167A-F35400B87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EFD788-F53D-6906-DF05-A25ADDA4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74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211F8BA-E715-738E-980A-783E41F0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92EF-38C8-4281-99CC-0DB32CC460AC}" type="datetime1">
              <a:rPr lang="pt-BR" smtClean="0"/>
              <a:t>21/04/2026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99AECBC-A770-4B55-B5F5-527FDB91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DF9233-28DF-8298-235B-D1901F7F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61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C8FF3-0676-C6A8-B060-92D6F129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918BAB-11A7-57F3-3177-8DD2B14DE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C78142-355C-CD95-886A-830B4FA4D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77752D-1912-49F7-9F44-CD64300F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A3E22-62F2-47E6-99DA-CF234C064675}" type="datetime1">
              <a:rPr lang="pt-BR" smtClean="0"/>
              <a:t>21/04/2026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1096AF-2216-825B-6615-3139A8FC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686F28-6C62-6F6B-15EF-BD76840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651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7B24F-15F7-2116-6CDC-D2964E8E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6865925-9474-2BE2-C455-F059FCFD1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115DC9-727F-9B59-48B6-41D471B99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CA4510-55A7-8F49-81D2-25A0F4E3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CC246-9F16-47F1-9127-9D2CEA7BC88D}" type="datetime1">
              <a:rPr lang="pt-BR" smtClean="0"/>
              <a:t>21/04/2026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E7AEC2-AA54-4A34-5359-265A3BFA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7C96B8-768C-420A-37C5-DBC3DC7D8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401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3989D-9A3B-CB19-0BEA-45B86D94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40D299-3EA5-D6B2-94E5-E08572A06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44B034-B87B-E1FC-B17B-BDA624DD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3BD1D-13D2-46A8-87C9-7227D39A2342}" type="datetime1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74F024-B1E3-EB2B-246A-88C6EB85A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C4EBB4-1D82-E9A1-F7AE-B9F31249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15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646D40-5C0F-9C1D-7DD1-016286520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47FB7B-0439-A3FC-D80C-482FF0EFD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F9A523-16BF-AD46-EB12-D942CD79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0DCB-F14F-463E-A8D1-DCF9D34BAF56}" type="datetime1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0A723C-6C62-AD03-04A3-2F2EC4D94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72E1CB-2748-F97F-A026-BA702762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41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3AD4B01-C14E-B670-38CE-14D43BBF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EA0CEF-900B-76DE-9DDC-A865D776A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8C4759-1BA2-C8AD-9BAA-130394683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A2D68-F1ED-4C19-A212-3DD184679FCD}" type="datetime1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DB3658-0AFF-6820-D83B-C9FFAF1FA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E652DF-B789-15D5-8998-2965E301D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02BEF-9522-4178-9903-48A3A4B173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46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3D646-2479-96F1-5D6B-BEBDE3339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489" y="1403350"/>
            <a:ext cx="9144000" cy="201865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 - Fundamentos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E15907-91C3-30E4-9310-4CB4863B1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489" y="3950347"/>
            <a:ext cx="9144000" cy="2387600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Felipe Braga Alves da Silva, aluno do primeiro semestre em matemática aplicada a negócios – USP Ribeirão Preto</a:t>
            </a:r>
          </a:p>
          <a:p>
            <a:pPr algn="just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felipebsilvarp@usp.br</a:t>
            </a:r>
          </a:p>
        </p:txBody>
      </p:sp>
    </p:spTree>
    <p:extLst>
      <p:ext uri="{BB962C8B-B14F-4D97-AF65-F5344CB8AC3E}">
        <p14:creationId xmlns:p14="http://schemas.microsoft.com/office/powerpoint/2010/main" val="32814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3049" y="709664"/>
            <a:ext cx="6456659" cy="5047898"/>
          </a:xfrm>
        </p:spPr>
        <p:txBody>
          <a:bodyPr>
            <a:normAutofit fontScale="70000" lnSpcReduction="20000"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Sistema Visual Humano - três camadas principais: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Córnea:</a:t>
            </a:r>
          </a:p>
          <a:p>
            <a:pPr lvl="2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Membrana mais externa que permite a produção de imagens na retina;</a:t>
            </a:r>
          </a:p>
          <a:p>
            <a:pPr lvl="2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Esclera (prolongamento da córnea);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Coroide: </a:t>
            </a:r>
          </a:p>
          <a:p>
            <a:pPr lvl="2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Ajuda a filtrar a quantidade de luz indesejável que entra no olho;</a:t>
            </a:r>
          </a:p>
          <a:p>
            <a:pPr lvl="2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Nutrição do olho (irrigação);</a:t>
            </a:r>
          </a:p>
          <a:p>
            <a:pPr lvl="2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Íris e pupila controlam a quantidade de luz que entra;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Retina: </a:t>
            </a:r>
          </a:p>
          <a:p>
            <a:pPr lvl="2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Membrana interna sensível a cores (bastonetes e bastonetes);</a:t>
            </a:r>
          </a:p>
          <a:p>
            <a:pPr lvl="2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onde a luz de um objeto externo forma uma imagem.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CDEC66-0ECB-139B-9BC0-EEA8FFAD9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36" y="701626"/>
            <a:ext cx="4577013" cy="575465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5C79E67-A5EC-1E62-A3D8-F6DA773703B9}"/>
              </a:ext>
            </a:extLst>
          </p:cNvPr>
          <p:cNvSpPr txBox="1"/>
          <p:nvPr/>
        </p:nvSpPr>
        <p:spPr>
          <a:xfrm>
            <a:off x="5475678" y="5757562"/>
            <a:ext cx="6211397" cy="6987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Figura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retirada do livro  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  </a:t>
            </a:r>
          </a:p>
        </p:txBody>
      </p:sp>
    </p:spTree>
    <p:extLst>
      <p:ext uri="{BB962C8B-B14F-4D97-AF65-F5344CB8AC3E}">
        <p14:creationId xmlns:p14="http://schemas.microsoft.com/office/powerpoint/2010/main" val="1964404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pic>
        <p:nvPicPr>
          <p:cNvPr id="19" name="Espaço Reservado para Conteúdo 18">
            <a:extLst>
              <a:ext uri="{FF2B5EF4-FFF2-40B4-BE49-F238E27FC236}">
                <a16:creationId xmlns:a16="http://schemas.microsoft.com/office/drawing/2014/main" id="{5367E873-DFB2-8657-D386-5800ED6E3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7683" y="3983858"/>
            <a:ext cx="7573432" cy="226726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DB48424-9389-BF71-0A7E-33AC571CEE7E}"/>
              </a:ext>
            </a:extLst>
          </p:cNvPr>
          <p:cNvSpPr txBox="1"/>
          <p:nvPr/>
        </p:nvSpPr>
        <p:spPr>
          <a:xfrm>
            <a:off x="8145378" y="4444967"/>
            <a:ext cx="2831833" cy="13450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Figura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retirada do livro  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 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016F600-F8DF-4008-BE74-7ECD583406E8}"/>
              </a:ext>
            </a:extLst>
          </p:cNvPr>
          <p:cNvSpPr txBox="1"/>
          <p:nvPr/>
        </p:nvSpPr>
        <p:spPr>
          <a:xfrm>
            <a:off x="253304" y="772888"/>
            <a:ext cx="11297012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Formação da imagem no olho humano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distância entre a lente e o plano-imagem (retina) é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fixa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e 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distância focal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necessária é obtida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variando o formato do cristalino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(equivalente a uma lente flexível);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cristalino será achatado por fibras para 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focalização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de objetos distantes ou próximos;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imagem na retina é localizada principalmente na área da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fóvea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percepção ocorre, então, pela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excitação relativa dos receptores de luz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que transformam a energia radiante em impulsos elétricos, que são posteriormente decodificados pelo cérebro.</a:t>
            </a:r>
          </a:p>
        </p:txBody>
      </p:sp>
    </p:spTree>
    <p:extLst>
      <p:ext uri="{BB962C8B-B14F-4D97-AF65-F5344CB8AC3E}">
        <p14:creationId xmlns:p14="http://schemas.microsoft.com/office/powerpoint/2010/main" val="395400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spaço Reservado para Conteúdo 10">
                <a:extLst>
                  <a:ext uri="{FF2B5EF4-FFF2-40B4-BE49-F238E27FC236}">
                    <a16:creationId xmlns:a16="http://schemas.microsoft.com/office/drawing/2014/main" id="{A76770BE-A524-A134-7A3B-C2029190A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408" y="762753"/>
                <a:ext cx="11544300" cy="5548394"/>
              </a:xfrm>
            </p:spPr>
            <p:txBody>
              <a:bodyPr>
                <a:normAutofit/>
              </a:bodyPr>
              <a:lstStyle/>
              <a:p>
                <a:pPr lvl="1" algn="just">
                  <a:lnSpc>
                    <a:spcPct val="150000"/>
                  </a:lnSpc>
                </a:pP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 que é a luz?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Energia eletromagnética 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que estimula a nossa resposta visual;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A luz recebida de um objeto pode ser obtida pela fórmula:</a:t>
                </a:r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𝜌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pt-BR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Onde: </a:t>
                </a:r>
              </a:p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𝜌</m:t>
                    </m:r>
                  </m:oMath>
                </a14:m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 é a refletividade do objeto </a:t>
                </a:r>
              </a:p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</m:oMath>
                </a14:m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 é a distribuição da energia incidente</a:t>
                </a:r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A detecção de um objeto ocorre a partir da percepção interna da reflexão de um objeto.</a:t>
                </a:r>
              </a:p>
            </p:txBody>
          </p:sp>
        </mc:Choice>
        <mc:Fallback>
          <p:sp>
            <p:nvSpPr>
              <p:cNvPr id="11" name="Espaço Reservado para Conteúdo 10">
                <a:extLst>
                  <a:ext uri="{FF2B5EF4-FFF2-40B4-BE49-F238E27FC236}">
                    <a16:creationId xmlns:a16="http://schemas.microsoft.com/office/drawing/2014/main" id="{A76770BE-A524-A134-7A3B-C2029190A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408" y="762753"/>
                <a:ext cx="11544300" cy="5548394"/>
              </a:xfrm>
              <a:blipFill>
                <a:blip r:embed="rId3"/>
                <a:stretch>
                  <a:fillRect r="-8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17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0091" y="722918"/>
            <a:ext cx="12192000" cy="5509440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Caracterização da luz: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Luz acromática (sem cor):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possui apenas o atributo de intensidade – níveis de cinza;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Luz cromática: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Luz percebida no espectro de energia eletromagnética de 400 a 700 nm.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 descr="50, 500 ou 50 mil? Afinal, quantos tons de cinza somos capazes de enxergar?  - Mega Curioso">
            <a:extLst>
              <a:ext uri="{FF2B5EF4-FFF2-40B4-BE49-F238E27FC236}">
                <a16:creationId xmlns:a16="http://schemas.microsoft.com/office/drawing/2014/main" id="{3EA30F00-F43B-32B2-0DF3-2BF114669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0" y="2501149"/>
            <a:ext cx="10918658" cy="107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A36FBE0-E7E8-A286-6825-0BD91DD2D1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086"/>
          <a:stretch/>
        </p:blipFill>
        <p:spPr>
          <a:xfrm>
            <a:off x="636671" y="5043609"/>
            <a:ext cx="10918658" cy="109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91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00" y="674280"/>
            <a:ext cx="11627808" cy="5509440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Valores fundamentais para descrever a qualidade de uma fonte de luz cromática: </a:t>
            </a:r>
          </a:p>
          <a:p>
            <a:pPr lvl="1"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Radiância: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quantidade total de energia que flui da fonte de luz  (W); </a:t>
            </a:r>
          </a:p>
          <a:p>
            <a:pPr lvl="1"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Luminância: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quantidade de energia que uma pessoa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percebe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de uma fonte de luz (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lm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lvl="1"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Brilho: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descritor subjetivo da sensação da cor.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36FBE0-E7E8-A286-6825-0BD91DD2D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086"/>
          <a:stretch/>
        </p:blipFill>
        <p:spPr>
          <a:xfrm>
            <a:off x="636671" y="5043609"/>
            <a:ext cx="10918658" cy="109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50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00" y="674279"/>
            <a:ext cx="11627808" cy="6177205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As três cores fundamentais: 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estrutura do olho humano capta as cores visíveis do espectro a partir da combinação de três cores fundamentais: 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Vermelho (R)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Verde (G); 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Azul (B);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Os cones oculares são responsáveis pela percepção das cores. 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Para cada cor primária, há um sensor ocular no cone responsável pela interpretação e decodificação do estímulo.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0" name="Picture 4" descr="RGB color model - Wikipedia">
            <a:extLst>
              <a:ext uri="{FF2B5EF4-FFF2-40B4-BE49-F238E27FC236}">
                <a16:creationId xmlns:a16="http://schemas.microsoft.com/office/drawing/2014/main" id="{6F5687FF-1654-18E4-FE27-52DE2F4DE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728" y="2391327"/>
            <a:ext cx="2238799" cy="218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93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0091" y="722918"/>
            <a:ext cx="12192000" cy="5509440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9094A05-C9A0-497D-A8D3-724F5FFC4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439" y="974121"/>
            <a:ext cx="9349121" cy="4394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3202955-B5FB-08FA-036E-37339C2F1B80}"/>
              </a:ext>
            </a:extLst>
          </p:cNvPr>
          <p:cNvSpPr txBox="1"/>
          <p:nvPr/>
        </p:nvSpPr>
        <p:spPr>
          <a:xfrm>
            <a:off x="1421438" y="5392173"/>
            <a:ext cx="9349121" cy="3755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Figura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retirada do livro  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  </a:t>
            </a:r>
          </a:p>
        </p:txBody>
      </p:sp>
    </p:spTree>
    <p:extLst>
      <p:ext uri="{BB962C8B-B14F-4D97-AF65-F5344CB8AC3E}">
        <p14:creationId xmlns:p14="http://schemas.microsoft.com/office/powerpoint/2010/main" val="357962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8" y="762753"/>
            <a:ext cx="11544300" cy="554839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que é um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sinal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Manifestação de um fenômeno expresso de forma quantitativa;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Pode ser representado como uma função de uma ou mais variáveis independentes;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Contém informações acerca da natureza ou comportamento de um fenômeno;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Exemplos: </a:t>
            </a:r>
          </a:p>
          <a:p>
            <a:pPr lvl="1"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sinal de voz: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definido por uma função de uma variável (tempo);</a:t>
            </a:r>
          </a:p>
          <a:p>
            <a:pPr lvl="1"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Imagem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definido por uma função de duas variáveis.</a:t>
            </a:r>
          </a:p>
          <a:p>
            <a:pPr lvl="1"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139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4CCE3F7F-4BBA-846F-4EC6-FEE352243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9" t="5534" r="6253" b="5545"/>
          <a:stretch/>
        </p:blipFill>
        <p:spPr>
          <a:xfrm>
            <a:off x="2074033" y="1009650"/>
            <a:ext cx="8041518" cy="44196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65E0F97-BC74-E3E9-FEF1-3A5B19962DEF}"/>
              </a:ext>
            </a:extLst>
          </p:cNvPr>
          <p:cNvSpPr txBox="1"/>
          <p:nvPr/>
        </p:nvSpPr>
        <p:spPr>
          <a:xfrm>
            <a:off x="2074033" y="5283690"/>
            <a:ext cx="8041518" cy="12875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1: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Exemplo de Sinal de voz e de seu respectivo espectrograma: representa a visão tridimensional do som, permitindo “enxergar” o som.</a:t>
            </a:r>
          </a:p>
          <a:p>
            <a:pPr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178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742283"/>
            <a:ext cx="11569076" cy="5548394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Sinal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discreto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x sinal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contínuo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Sinal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contínuo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seus estados podem ser definidos em qualquer instante de tempo, ou seja, sem interrupção; 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Sinal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discreto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definido por um conjunto de valores enumeráveis ou inteiros, cujo intervalo depende da natureza do sinal.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Modelagem de Sistemas Discretizados – Blog do Controleiro">
            <a:extLst>
              <a:ext uri="{FF2B5EF4-FFF2-40B4-BE49-F238E27FC236}">
                <a16:creationId xmlns:a16="http://schemas.microsoft.com/office/drawing/2014/main" id="{84DF228B-6BBF-9E57-AFB0-5DECE6F086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72"/>
          <a:stretch/>
        </p:blipFill>
        <p:spPr bwMode="auto">
          <a:xfrm>
            <a:off x="714828" y="3886785"/>
            <a:ext cx="6423908" cy="25694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3C741CF-B1AA-08D7-4404-22FA8AD6ADC3}"/>
              </a:ext>
            </a:extLst>
          </p:cNvPr>
          <p:cNvSpPr txBox="1"/>
          <p:nvPr/>
        </p:nvSpPr>
        <p:spPr>
          <a:xfrm>
            <a:off x="7443538" y="4013230"/>
            <a:ext cx="4210098" cy="17030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2: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Modelagem de sistemas. R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https://blogdocontroleiro.wordpress.com/2017/08/27/modelagem-de-sistemas-discretizados/.</a:t>
            </a:r>
          </a:p>
        </p:txBody>
      </p:sp>
    </p:spTree>
    <p:extLst>
      <p:ext uri="{BB962C8B-B14F-4D97-AF65-F5344CB8AC3E}">
        <p14:creationId xmlns:p14="http://schemas.microsoft.com/office/powerpoint/2010/main" val="350686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8" y="726241"/>
            <a:ext cx="11544300" cy="554839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Os sinais ainda podem ser classificados como: 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Analógicos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podem variar continuamente no tempo. Exemplo: onda sonora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Digitais: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podem assumir apenas valores discretos. Exemplo: sinal digital.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Circuitos eletrônicos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podem converter um tipo de sinal em outro. Exemplo: uma onda sonora capturada por um microfone é transformada em sinal digital para a manipulação no computador. 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546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5E0F97-BC74-E3E9-FEF1-3A5B19962DEF}"/>
              </a:ext>
            </a:extLst>
          </p:cNvPr>
          <p:cNvSpPr txBox="1"/>
          <p:nvPr/>
        </p:nvSpPr>
        <p:spPr>
          <a:xfrm>
            <a:off x="382292" y="4517450"/>
            <a:ext cx="5326230" cy="12875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3: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Exemplo de Sinal analógico. https://embarcados.com.br/sinal-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analogico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-x-sinal-digital/..</a:t>
            </a:r>
          </a:p>
        </p:txBody>
      </p:sp>
      <p:pic>
        <p:nvPicPr>
          <p:cNvPr id="3074" name="Picture 2" descr="Entenda sobre Sinal Analógico e Sinal Digital - Embarcados">
            <a:extLst>
              <a:ext uri="{FF2B5EF4-FFF2-40B4-BE49-F238E27FC236}">
                <a16:creationId xmlns:a16="http://schemas.microsoft.com/office/drawing/2014/main" id="{B091539A-B768-E8BB-3AB9-F972CD09A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92" y="1017518"/>
            <a:ext cx="5326230" cy="29938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076" name="Picture 4" descr="Sinal Digital">
            <a:extLst>
              <a:ext uri="{FF2B5EF4-FFF2-40B4-BE49-F238E27FC236}">
                <a16:creationId xmlns:a16="http://schemas.microsoft.com/office/drawing/2014/main" id="{DCA978E1-4ABB-C8DF-6982-4A2FDA0F8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4"/>
          <a:stretch/>
        </p:blipFill>
        <p:spPr bwMode="auto">
          <a:xfrm>
            <a:off x="6096000" y="1017518"/>
            <a:ext cx="5812518" cy="29938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3ADFB92-E771-C5CA-8556-CCD3F1B77D29}"/>
              </a:ext>
            </a:extLst>
          </p:cNvPr>
          <p:cNvSpPr txBox="1"/>
          <p:nvPr/>
        </p:nvSpPr>
        <p:spPr>
          <a:xfrm>
            <a:off x="6096000" y="4514442"/>
            <a:ext cx="5713708" cy="12875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4: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Exemplo de Sinal digital. https://embarcados.com.br/sinal-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analogico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-x-sinal-digital/. </a:t>
            </a:r>
          </a:p>
        </p:txBody>
      </p:sp>
    </p:spTree>
    <p:extLst>
      <p:ext uri="{BB962C8B-B14F-4D97-AF65-F5344CB8AC3E}">
        <p14:creationId xmlns:p14="http://schemas.microsoft.com/office/powerpoint/2010/main" val="3654390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spaço Reservado para Conteúdo 10">
                <a:extLst>
                  <a:ext uri="{FF2B5EF4-FFF2-40B4-BE49-F238E27FC236}">
                    <a16:creationId xmlns:a16="http://schemas.microsoft.com/office/drawing/2014/main" id="{A76770BE-A524-A134-7A3B-C2029190A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408" y="762753"/>
                <a:ext cx="11544300" cy="554839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Retomada – O que é uma imagem? 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Definição de um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modelo matemático:</a:t>
                </a:r>
              </a:p>
              <a:p>
                <a:pPr algn="just">
                  <a:lnSpc>
                    <a:spcPct val="150000"/>
                  </a:lnSpc>
                  <a:buFontTx/>
                  <a:buChar char="-"/>
                </a:pP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Função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 de intensidade luminosa, denotada por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, cujo valor ou amplitude nas coordenadas espaciais (x, y) fornece a intensidade ou o brilho naquele ponto. </a:t>
                </a:r>
              </a:p>
              <a:p>
                <a:pPr algn="just">
                  <a:lnSpc>
                    <a:spcPct val="150000"/>
                  </a:lnSpc>
                  <a:buFontTx/>
                  <a:buChar char="-"/>
                </a:pPr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Espaço Reservado para Conteúdo 10">
                <a:extLst>
                  <a:ext uri="{FF2B5EF4-FFF2-40B4-BE49-F238E27FC236}">
                    <a16:creationId xmlns:a16="http://schemas.microsoft.com/office/drawing/2014/main" id="{A76770BE-A524-A134-7A3B-C2029190A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408" y="762753"/>
                <a:ext cx="11544300" cy="5548394"/>
              </a:xfrm>
              <a:blipFill>
                <a:blip r:embed="rId3"/>
                <a:stretch>
                  <a:fillRect l="-1109" r="-11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E51B0D9-813E-A7EF-4C17-E59F5B109D77}"/>
                  </a:ext>
                </a:extLst>
              </p:cNvPr>
              <p:cNvSpPr txBox="1"/>
              <p:nvPr/>
            </p:nvSpPr>
            <p:spPr>
              <a:xfrm>
                <a:off x="382292" y="4470434"/>
                <a:ext cx="10884104" cy="129266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pt-BR" sz="2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pt-BR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&lt;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 </m:t>
                    </m:r>
                  </m:oMath>
                </a14:m>
                <a:r>
                  <a:rPr lang="pt-BR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 e 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pt-B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E51B0D9-813E-A7EF-4C17-E59F5B10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92" y="4470434"/>
                <a:ext cx="10884104" cy="1292662"/>
              </a:xfrm>
              <a:prstGeom prst="rect">
                <a:avLst/>
              </a:prstGeom>
              <a:blipFill>
                <a:blip r:embed="rId4"/>
                <a:stretch>
                  <a:fillRect b="-148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41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8" y="762753"/>
            <a:ext cx="11544300" cy="554839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Tx/>
              <a:buChar char="-"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2618687-B03F-9A4E-5AB7-6B3E423FB885}"/>
                  </a:ext>
                </a:extLst>
              </p:cNvPr>
              <p:cNvSpPr txBox="1"/>
              <p:nvPr/>
            </p:nvSpPr>
            <p:spPr>
              <a:xfrm>
                <a:off x="265408" y="910468"/>
                <a:ext cx="11544300" cy="129266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pt-BR" sz="2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pt-BR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&lt;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 </m:t>
                    </m:r>
                  </m:oMath>
                </a14:m>
                <a:r>
                  <a:rPr lang="pt-BR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 e 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pt-B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2618687-B03F-9A4E-5AB7-6B3E423FB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08" y="910468"/>
                <a:ext cx="11544300" cy="1292662"/>
              </a:xfrm>
              <a:prstGeom prst="rect">
                <a:avLst/>
              </a:prstGeom>
              <a:blipFill>
                <a:blip r:embed="rId3"/>
                <a:stretch>
                  <a:fillRect b="-148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ço Reservado para Conteúdo 10">
                <a:extLst>
                  <a:ext uri="{FF2B5EF4-FFF2-40B4-BE49-F238E27FC236}">
                    <a16:creationId xmlns:a16="http://schemas.microsoft.com/office/drawing/2014/main" id="{AA5F6C37-1DF5-0221-52AC-55E44865AD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5408" y="2602154"/>
                <a:ext cx="11544300" cy="44008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pt-BR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intensidade pode ser expressa em termos do produto entre dois componentes: 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  <m:d>
                      <m:dPr>
                        <m:ctrlPr>
                          <a:rPr lang="pt-BR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pt-B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iluminância: </a:t>
                </a:r>
                <a:r>
                  <a:rPr lang="pt-BR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quantidade de luz i</a:t>
                </a:r>
                <a:r>
                  <a:rPr lang="pt-B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ncidente</a:t>
                </a:r>
                <a:r>
                  <a:rPr lang="pt-BR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na cena. Sua natureza é determinada pela fonte de luz. Medida em lúmen/metro quadrado ou lux. Pode ser obtida a partir de qualquer fonte luminosa.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sz="2400" b="1" dirty="0">
                    <a:cs typeface="Arial" panose="020B0604020202020204" pitchFamily="34" charset="0"/>
                  </a:rPr>
                  <a:t>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pt-B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reflectância: </a:t>
                </a:r>
                <a:r>
                  <a:rPr lang="pt-BR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quantidade de luz de luz refletida pelos objetos presentes na natureza. Determinada pelas características dos próprio objetos. É medida em valores percentuais ou no intervalo entre 0 e 1. </a:t>
                </a:r>
              </a:p>
              <a:p>
                <a:pPr algn="just">
                  <a:lnSpc>
                    <a:spcPct val="150000"/>
                  </a:lnSpc>
                  <a:buFontTx/>
                  <a:buChar char="-"/>
                </a:pPr>
                <a:endParaRPr lang="pt-BR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pt-BR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pt-BR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Espaço Reservado para Conteúdo 10">
                <a:extLst>
                  <a:ext uri="{FF2B5EF4-FFF2-40B4-BE49-F238E27FC236}">
                    <a16:creationId xmlns:a16="http://schemas.microsoft.com/office/drawing/2014/main" id="{AA5F6C37-1DF5-0221-52AC-55E44865A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08" y="2602154"/>
                <a:ext cx="11544300" cy="4400864"/>
              </a:xfrm>
              <a:prstGeom prst="rect">
                <a:avLst/>
              </a:prstGeom>
              <a:blipFill>
                <a:blip r:embed="rId4"/>
                <a:stretch>
                  <a:fillRect l="-845" r="-8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697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F88B27-69B5-7416-0897-96E9879B3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63" r="5646" b="2353"/>
          <a:stretch/>
        </p:blipFill>
        <p:spPr>
          <a:xfrm>
            <a:off x="483478" y="913394"/>
            <a:ext cx="4615366" cy="4094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53AF79C-5173-040F-641B-8ADCA4C94D5D}"/>
              </a:ext>
            </a:extLst>
          </p:cNvPr>
          <p:cNvSpPr txBox="1"/>
          <p:nvPr/>
        </p:nvSpPr>
        <p:spPr>
          <a:xfrm>
            <a:off x="382291" y="5105400"/>
            <a:ext cx="4665959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5: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Convenção do sistema de coordenadas para representação de imagens digitais. retirado do livro:</a:t>
            </a: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Análise de imagens digitais : princípios, algoritmos e aplicações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Espaço Reservado para Conteúdo 10">
            <a:extLst>
              <a:ext uri="{FF2B5EF4-FFF2-40B4-BE49-F238E27FC236}">
                <a16:creationId xmlns:a16="http://schemas.microsoft.com/office/drawing/2014/main" id="{70BAE363-AA24-1012-BB39-156644088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990" y="1676950"/>
            <a:ext cx="6710864" cy="226294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Por convenção, 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origem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da imagem está situada no ponto superior esquerdo, e é representada pelos pontos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(0,0).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198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7723900-CE95-3B24-52D2-170F089E0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0160" y="1087438"/>
            <a:ext cx="7943263" cy="456097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F61DA23-D614-753F-F58A-E63F28956D2D}"/>
              </a:ext>
            </a:extLst>
          </p:cNvPr>
          <p:cNvSpPr txBox="1"/>
          <p:nvPr/>
        </p:nvSpPr>
        <p:spPr>
          <a:xfrm>
            <a:off x="350160" y="764272"/>
            <a:ext cx="6387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Aquisição de imagens usando sensores matriciais: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78EF4BB-49E5-50AE-9F3A-D469E2D69762}"/>
              </a:ext>
            </a:extLst>
          </p:cNvPr>
          <p:cNvSpPr txBox="1"/>
          <p:nvPr/>
        </p:nvSpPr>
        <p:spPr>
          <a:xfrm>
            <a:off x="8293423" y="1086578"/>
            <a:ext cx="3722114" cy="17030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6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retirado do livro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.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4014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8" y="762753"/>
            <a:ext cx="11544300" cy="5548394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Digitalização – como discretizar uma imagem?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Uma imagem digital é obtida a partir do processo de digitalização, o qual é subdividido em duas etapas: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Amostragem: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envolve discretizar o domínio de definição da imagem nas direções x e y, gerando um arranjo matricial;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Quantização: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Consiste em escolher um número inteiro L de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níveis de cinza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(no caso de uma imagem monocromática) permitidos para cada ponto da imagem.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613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7133E8C1-FE71-23ED-A14B-E83F75860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180" y="810075"/>
            <a:ext cx="11408024" cy="36656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0D95BD-7433-02BB-6C8A-F3E26A81270C}"/>
              </a:ext>
            </a:extLst>
          </p:cNvPr>
          <p:cNvSpPr txBox="1"/>
          <p:nvPr/>
        </p:nvSpPr>
        <p:spPr>
          <a:xfrm>
            <a:off x="209180" y="4749043"/>
            <a:ext cx="11408024" cy="1298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Seção extraída do livro: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</a:t>
            </a:r>
            <a:r>
              <a:rPr lang="pt-BR" sz="1800" i="1" dirty="0">
                <a:latin typeface="Arial" panose="020B0604020202020204" pitchFamily="34" charset="0"/>
                <a:cs typeface="Arial" panose="020B0604020202020204" pitchFamily="34" charset="0"/>
              </a:rPr>
              <a:t>E-book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Disponível em: https://plataforma.bvirtual.com.br. </a:t>
            </a:r>
          </a:p>
          <a:p>
            <a:pPr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9441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78EF4BB-49E5-50AE-9F3A-D469E2D69762}"/>
              </a:ext>
            </a:extLst>
          </p:cNvPr>
          <p:cNvSpPr txBox="1"/>
          <p:nvPr/>
        </p:nvSpPr>
        <p:spPr>
          <a:xfrm>
            <a:off x="9980563" y="848129"/>
            <a:ext cx="1829145" cy="33650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7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retirado do livro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.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BA52E8A-D3EC-5219-0588-612FC902C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95" y="727176"/>
            <a:ext cx="9817768" cy="572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03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78EF4BB-49E5-50AE-9F3A-D469E2D69762}"/>
              </a:ext>
            </a:extLst>
          </p:cNvPr>
          <p:cNvSpPr txBox="1"/>
          <p:nvPr/>
        </p:nvSpPr>
        <p:spPr>
          <a:xfrm>
            <a:off x="382292" y="5148455"/>
            <a:ext cx="5713708" cy="87203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8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retirado do livro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.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9B42B45-4633-C927-0922-13FCE8F55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92" y="848129"/>
            <a:ext cx="6086814" cy="4224965"/>
          </a:xfrm>
          <a:prstGeom prst="rect">
            <a:avLst/>
          </a:prstGeom>
        </p:spPr>
      </p:pic>
      <p:sp>
        <p:nvSpPr>
          <p:cNvPr id="4" name="Espaço Reservado para Conteúdo 10">
            <a:extLst>
              <a:ext uri="{FF2B5EF4-FFF2-40B4-BE49-F238E27FC236}">
                <a16:creationId xmlns:a16="http://schemas.microsoft.com/office/drawing/2014/main" id="{17CB2103-82D5-96D0-03A5-A112E9AC4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9106" y="1152498"/>
            <a:ext cx="5129337" cy="3354902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Uma imagem será o resultado de um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arranjo matricial de pixels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 Na situação à esquerda, seu formato original foi alterado devido aos parâmetros utilizados.</a:t>
            </a:r>
          </a:p>
        </p:txBody>
      </p:sp>
    </p:spTree>
    <p:extLst>
      <p:ext uri="{BB962C8B-B14F-4D97-AF65-F5344CB8AC3E}">
        <p14:creationId xmlns:p14="http://schemas.microsoft.com/office/powerpoint/2010/main" val="4203473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8" y="726241"/>
            <a:ext cx="6873329" cy="554839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 processamento digital de imagens, utiliza-se, por padrão, dimensões de imagens e o número de níveis de cinza em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potências inteiras de 2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Para uma imagem em que o número de níveis de cinza é igual à 2, ela será chamada de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imagem binária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(as cores de cada pixel só podem ser 0 ou 1). 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Algoritmos e Programação de Computadores - Imagens binárias">
            <a:extLst>
              <a:ext uri="{FF2B5EF4-FFF2-40B4-BE49-F238E27FC236}">
                <a16:creationId xmlns:a16="http://schemas.microsoft.com/office/drawing/2014/main" id="{300227B8-6B64-3430-3EC8-B8F8B7CBF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496" y="887415"/>
            <a:ext cx="4226381" cy="3057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D10AABB-05BC-4F74-0FF0-9BD7E6F4909A}"/>
              </a:ext>
            </a:extLst>
          </p:cNvPr>
          <p:cNvSpPr txBox="1"/>
          <p:nvPr/>
        </p:nvSpPr>
        <p:spPr>
          <a:xfrm>
            <a:off x="7427496" y="3944940"/>
            <a:ext cx="4226381" cy="21185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9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Exemplo de imagem binária. https://www.ic.unicamp.br/~lehilton/cursos/1s2020/mc102qr/tarefas/10-imagens-binarias.html. Acesso em 21 de abril de 2026.</a:t>
            </a:r>
          </a:p>
        </p:txBody>
      </p:sp>
    </p:spTree>
    <p:extLst>
      <p:ext uri="{BB962C8B-B14F-4D97-AF65-F5344CB8AC3E}">
        <p14:creationId xmlns:p14="http://schemas.microsoft.com/office/powerpoint/2010/main" val="2263277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8" y="726241"/>
            <a:ext cx="11544300" cy="5548394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Resolução espacial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representa o menor detalhe identificável em uma imagem.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Pares de linhas / unidade de distância 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pixels / unidade de distância; 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Exemplo: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dpi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dots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per inch)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– pontos por polegada;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Ao reduzir a resolução espacial, o número de pixels que representa a imagem será menor – e, consequentemente, seus detalhes serão prejudicados.</a:t>
            </a:r>
          </a:p>
          <a:p>
            <a:pPr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160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8" y="742283"/>
            <a:ext cx="11544300" cy="554839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F1FA174-3DE0-A167-75F5-70823B5E5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322" y="961977"/>
            <a:ext cx="8519355" cy="540348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E048345-DF3C-3EA9-CB47-F2E2E10C33DE}"/>
              </a:ext>
            </a:extLst>
          </p:cNvPr>
          <p:cNvSpPr txBox="1"/>
          <p:nvPr/>
        </p:nvSpPr>
        <p:spPr>
          <a:xfrm>
            <a:off x="1931858" y="6325705"/>
            <a:ext cx="410004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1250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dpi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A3320DC-2D93-F0AE-2E66-73757E04C1F2}"/>
              </a:ext>
            </a:extLst>
          </p:cNvPr>
          <p:cNvSpPr txBox="1"/>
          <p:nvPr/>
        </p:nvSpPr>
        <p:spPr>
          <a:xfrm>
            <a:off x="6255637" y="6336850"/>
            <a:ext cx="400450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300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dpi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9A27CD2-F5B6-E4E5-3BBF-670C9FEF8221}"/>
              </a:ext>
            </a:extLst>
          </p:cNvPr>
          <p:cNvSpPr txBox="1"/>
          <p:nvPr/>
        </p:nvSpPr>
        <p:spPr>
          <a:xfrm>
            <a:off x="265408" y="1136293"/>
            <a:ext cx="1585538" cy="45243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10 e 11: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efeitos típicos da resolução espacial. Imagens extraídas do livro: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1448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8" y="726241"/>
            <a:ext cx="11544300" cy="554839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A35A239-C437-B53F-8D3A-A5E337F7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946" y="1067151"/>
            <a:ext cx="8512253" cy="529395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53F005F-9D1E-B5FD-3381-1EE94E2D76C5}"/>
              </a:ext>
            </a:extLst>
          </p:cNvPr>
          <p:cNvSpPr txBox="1"/>
          <p:nvPr/>
        </p:nvSpPr>
        <p:spPr>
          <a:xfrm>
            <a:off x="1991370" y="6383675"/>
            <a:ext cx="397127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150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dpi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CE4D15-F7C4-D4F1-33C8-B2941BD783B0}"/>
              </a:ext>
            </a:extLst>
          </p:cNvPr>
          <p:cNvSpPr txBox="1"/>
          <p:nvPr/>
        </p:nvSpPr>
        <p:spPr>
          <a:xfrm>
            <a:off x="6332185" y="6381365"/>
            <a:ext cx="39624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72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dpi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B47CE0-AEA3-1FB1-8D41-04EEE56690D3}"/>
              </a:ext>
            </a:extLst>
          </p:cNvPr>
          <p:cNvSpPr txBox="1"/>
          <p:nvPr/>
        </p:nvSpPr>
        <p:spPr>
          <a:xfrm>
            <a:off x="265408" y="1136293"/>
            <a:ext cx="1585538" cy="45243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12 e 13: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efeitos típicos da resolução espacial. Imagens extraídas do livro: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4268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spaço Reservado para Conteúdo 10">
                <a:extLst>
                  <a:ext uri="{FF2B5EF4-FFF2-40B4-BE49-F238E27FC236}">
                    <a16:creationId xmlns:a16="http://schemas.microsoft.com/office/drawing/2014/main" id="{A76770BE-A524-A134-7A3B-C2029190A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408" y="762753"/>
                <a:ext cx="11544300" cy="5548394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Resolução de intensidade: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Define as menores variações perceptíveis de intensidade;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 = número de níveis de cinza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, e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profundidade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 da imagem;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Profundidade é o expoente da potência utilizada na potenciação; 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pt-B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p>
                    </m:sSup>
                  </m:oMath>
                </a14:m>
                <a:endParaRPr lang="pt-BR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Por padrão, para 256 níveis de intensidade de cinza,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= 256, logo b = 8. Ou seja, serão utilizados 8 bits para representar cada pixel.</a:t>
                </a:r>
              </a:p>
            </p:txBody>
          </p:sp>
        </mc:Choice>
        <mc:Fallback>
          <p:sp>
            <p:nvSpPr>
              <p:cNvPr id="11" name="Espaço Reservado para Conteúdo 10">
                <a:extLst>
                  <a:ext uri="{FF2B5EF4-FFF2-40B4-BE49-F238E27FC236}">
                    <a16:creationId xmlns:a16="http://schemas.microsoft.com/office/drawing/2014/main" id="{A76770BE-A524-A134-7A3B-C2029190A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408" y="762753"/>
                <a:ext cx="11544300" cy="5548394"/>
              </a:xfrm>
              <a:blipFill>
                <a:blip r:embed="rId3"/>
                <a:stretch>
                  <a:fillRect l="-1109" r="-1109" b="-2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675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194C1E-4B9A-3839-036F-C65419F98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744" y="696852"/>
            <a:ext cx="10020856" cy="616114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330B974-17F8-A908-DFBE-789508B0A664}"/>
              </a:ext>
            </a:extLst>
          </p:cNvPr>
          <p:cNvSpPr txBox="1"/>
          <p:nvPr/>
        </p:nvSpPr>
        <p:spPr>
          <a:xfrm>
            <a:off x="121631" y="889843"/>
            <a:ext cx="1554769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13 a 20: Efeito da quantização.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retirado do livro: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6145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6012-CBD0-D638-86D8-63A6F323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4FC3994-BCD9-BB21-CC8B-F96D36B135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114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Referências bibliográficas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76770BE-A524-A134-7A3B-C2029190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8" y="907885"/>
            <a:ext cx="11544300" cy="5548394"/>
          </a:xfrm>
        </p:spPr>
        <p:txBody>
          <a:bodyPr>
            <a:normAutofit/>
          </a:bodyPr>
          <a:lstStyle/>
          <a:p>
            <a:pPr algn="just"/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GONZALEZ, R. C.; WOODS, R. E. 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Processamento digital de imagens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3. ed. São Paulo, SP: Pearson, 2009. </a:t>
            </a:r>
            <a:r>
              <a:rPr lang="pt-BR" sz="1800" i="1" dirty="0">
                <a:latin typeface="Arial" panose="020B0604020202020204" pitchFamily="34" charset="0"/>
                <a:cs typeface="Arial" panose="020B0604020202020204" pitchFamily="34" charset="0"/>
              </a:rPr>
              <a:t>E-book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Disponível em: https://plataforma.bvirtual.com.br. </a:t>
            </a:r>
          </a:p>
          <a:p>
            <a:pPr algn="just"/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PEDRINI, Hélio; SCHWARTZ, William R. 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Análise de imagens digitais : princípios, algoritmos e aplicações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Porto Alegre: +A Educação -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Cengage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Learning Brasil, 2007. </a:t>
            </a:r>
            <a:r>
              <a:rPr lang="pt-BR" sz="1800" i="1" dirty="0">
                <a:latin typeface="Arial" panose="020B0604020202020204" pitchFamily="34" charset="0"/>
                <a:cs typeface="Arial" panose="020B0604020202020204" pitchFamily="34" charset="0"/>
              </a:rPr>
              <a:t>E-book.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 p.33. ISBN 9788522128365. Disponível em: https://app.minhabiblioteca.com.br/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reader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/books/9788522128365/. </a:t>
            </a:r>
          </a:p>
          <a:p>
            <a:pPr algn="just"/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Figura 1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: Estudo de Sinais de Voz de Indivíduos Portadores da Síndrome de Williams. Parte I -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Scientific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Figure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ResearchGate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Disponível em: https://www.researchgate.net/figure/Figura-7-Sinal-de-voz-contendo-a-frase-E-como-diz-aquele-ditado-os-males-espantae-o_fig2_289671144. Acesso em 21 de abril de 2026.</a:t>
            </a:r>
          </a:p>
          <a:p>
            <a:pPr marL="0" indent="0" algn="just"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Número de Slide 8">
            <a:extLst>
              <a:ext uri="{FF2B5EF4-FFF2-40B4-BE49-F238E27FC236}">
                <a16:creationId xmlns:a16="http://schemas.microsoft.com/office/drawing/2014/main" id="{98DADB36-B37C-0209-8D3B-A3A2652F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708" y="6456279"/>
            <a:ext cx="382292" cy="39520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fld id="{9A002BEF-9522-4178-9903-48A3A4B173B5}" type="slidenum">
              <a:rPr lang="pt-BR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242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1792</Words>
  <Application>Microsoft Office PowerPoint</Application>
  <PresentationFormat>Widescreen</PresentationFormat>
  <Paragraphs>209</Paragraphs>
  <Slides>28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Tema do Office</vt:lpstr>
      <vt:lpstr>Processamento Digital de Imagens - Fundamentos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Felipe Braga</cp:lastModifiedBy>
  <cp:revision>84</cp:revision>
  <dcterms:created xsi:type="dcterms:W3CDTF">2026-03-28T01:14:21Z</dcterms:created>
  <dcterms:modified xsi:type="dcterms:W3CDTF">2026-04-22T03:49:32Z</dcterms:modified>
</cp:coreProperties>
</file>